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db083e40e54523" /><Relationship Type="http://schemas.openxmlformats.org/officeDocument/2006/relationships/extended-properties" Target="/docProps/app.xml" Id="Rff9db64a48fd4d10" /><Relationship Type="http://schemas.openxmlformats.org/officeDocument/2006/relationships/officeDocument" Target="/ppt/presentation.xml" Id="Rb59bbc8d04ff43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01c5033d2340cd"/>
  </p:sldMasterIdLst>
  <p:notesMasterIdLst>
    <p:notesMasterId xmlns:r="http://schemas.openxmlformats.org/officeDocument/2006/relationships" r:id="R1591aa47ce5c4f04"/>
  </p:notesMasterIdLst>
  <p:sldIdLst>
    <p:sldId xmlns:r="http://schemas.openxmlformats.org/officeDocument/2006/relationships" id="256" r:id="Re5f813fa759b4cc4"/>
    <p:sldId xmlns:r="http://schemas.openxmlformats.org/officeDocument/2006/relationships" id="257" r:id="R54557f79d821495f"/>
    <p:sldId xmlns:r="http://schemas.openxmlformats.org/officeDocument/2006/relationships" id="258" r:id="Ra953abf4cb8f40e6"/>
    <p:sldId xmlns:r="http://schemas.openxmlformats.org/officeDocument/2006/relationships" id="259" r:id="Rf4eb39da678c455b"/>
    <p:sldId xmlns:r="http://schemas.openxmlformats.org/officeDocument/2006/relationships" id="260" r:id="Rde94c62aff124df2"/>
    <p:sldId xmlns:r="http://schemas.openxmlformats.org/officeDocument/2006/relationships" id="261" r:id="Re91d0f56487f49f7"/>
    <p:sldId xmlns:r="http://schemas.openxmlformats.org/officeDocument/2006/relationships" id="262" r:id="R6f8e7d5f318e4bba"/>
    <p:sldId xmlns:r="http://schemas.openxmlformats.org/officeDocument/2006/relationships" id="263" r:id="R2a1a64cfbf4440aa"/>
    <p:sldId xmlns:r="http://schemas.openxmlformats.org/officeDocument/2006/relationships" id="264" r:id="Ra2e13f8d2cd648a4"/>
    <p:sldId xmlns:r="http://schemas.openxmlformats.org/officeDocument/2006/relationships" id="265" r:id="R0ff392820d864ad2"/>
    <p:sldId xmlns:r="http://schemas.openxmlformats.org/officeDocument/2006/relationships" id="266" r:id="R247e0407d61e445b"/>
    <p:sldId xmlns:r="http://schemas.openxmlformats.org/officeDocument/2006/relationships" id="267" r:id="Rf095dd9f707b4417"/>
    <p:sldId xmlns:r="http://schemas.openxmlformats.org/officeDocument/2006/relationships" id="268" r:id="Raefc9464428c445c"/>
    <p:sldId xmlns:r="http://schemas.openxmlformats.org/officeDocument/2006/relationships" id="269" r:id="R9c67ebd0b0c0486e"/>
    <p:sldId xmlns:r="http://schemas.openxmlformats.org/officeDocument/2006/relationships" id="270" r:id="R846f46f5a8b64b38"/>
    <p:sldId xmlns:r="http://schemas.openxmlformats.org/officeDocument/2006/relationships" id="271" r:id="R40ed03aeb7e348f5"/>
    <p:sldId xmlns:r="http://schemas.openxmlformats.org/officeDocument/2006/relationships" id="272" r:id="Rba659e619f1a4628"/>
    <p:sldId xmlns:r="http://schemas.openxmlformats.org/officeDocument/2006/relationships" id="273" r:id="Rd74b0e17bd6d4225"/>
    <p:sldId xmlns:r="http://schemas.openxmlformats.org/officeDocument/2006/relationships" id="274" r:id="R307ef6e123864be8"/>
    <p:sldId xmlns:r="http://schemas.openxmlformats.org/officeDocument/2006/relationships" id="275" r:id="Re109a8901be042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f2c64687c247ed" /><Relationship Type="http://schemas.openxmlformats.org/officeDocument/2006/relationships/slideMaster" Target="/ppt/slideMasters/slideMaster1.xml" Id="R0601c5033d2340cd" /><Relationship Type="http://schemas.openxmlformats.org/officeDocument/2006/relationships/notesMaster" Target="/ppt/notesMasters/notesMaster1.xml" Id="R1591aa47ce5c4f04" /><Relationship Type="http://schemas.openxmlformats.org/officeDocument/2006/relationships/presProps" Target="/ppt/presProps.xml" Id="Rc7fb84678dd84c5a" /><Relationship Type="http://schemas.openxmlformats.org/officeDocument/2006/relationships/tableStyles" Target="/ppt/tableStyles.xml" Id="R6169f099de1541ca" /><Relationship Type="http://schemas.openxmlformats.org/officeDocument/2006/relationships/slide" Target="/ppt/slides/slide1.xml" Id="Re5f813fa759b4cc4" /><Relationship Type="http://schemas.openxmlformats.org/officeDocument/2006/relationships/slide" Target="/ppt/slides/slide2.xml" Id="R54557f79d821495f" /><Relationship Type="http://schemas.openxmlformats.org/officeDocument/2006/relationships/slide" Target="/ppt/slides/slide3.xml" Id="Ra953abf4cb8f40e6" /><Relationship Type="http://schemas.openxmlformats.org/officeDocument/2006/relationships/slide" Target="/ppt/slides/slide4.xml" Id="Rf4eb39da678c455b" /><Relationship Type="http://schemas.openxmlformats.org/officeDocument/2006/relationships/slide" Target="/ppt/slides/slide5.xml" Id="Rde94c62aff124df2" /><Relationship Type="http://schemas.openxmlformats.org/officeDocument/2006/relationships/slide" Target="/ppt/slides/slide6.xml" Id="Re91d0f56487f49f7" /><Relationship Type="http://schemas.openxmlformats.org/officeDocument/2006/relationships/slide" Target="/ppt/slides/slide7.xml" Id="R6f8e7d5f318e4bba" /><Relationship Type="http://schemas.openxmlformats.org/officeDocument/2006/relationships/slide" Target="/ppt/slides/slide8.xml" Id="R2a1a64cfbf4440aa" /><Relationship Type="http://schemas.openxmlformats.org/officeDocument/2006/relationships/slide" Target="/ppt/slides/slide9.xml" Id="Ra2e13f8d2cd648a4" /><Relationship Type="http://schemas.openxmlformats.org/officeDocument/2006/relationships/slide" Target="/ppt/slides/slide10.xml" Id="R0ff392820d864ad2" /><Relationship Type="http://schemas.openxmlformats.org/officeDocument/2006/relationships/slide" Target="/ppt/slides/slide11.xml" Id="R247e0407d61e445b" /><Relationship Type="http://schemas.openxmlformats.org/officeDocument/2006/relationships/slide" Target="/ppt/slides/slide12.xml" Id="Rf095dd9f707b4417" /><Relationship Type="http://schemas.openxmlformats.org/officeDocument/2006/relationships/slide" Target="/ppt/slides/slide13.xml" Id="Raefc9464428c445c" /><Relationship Type="http://schemas.openxmlformats.org/officeDocument/2006/relationships/slide" Target="/ppt/slides/slide14.xml" Id="R9c67ebd0b0c0486e" /><Relationship Type="http://schemas.openxmlformats.org/officeDocument/2006/relationships/slide" Target="/ppt/slides/slide15.xml" Id="R846f46f5a8b64b38" /><Relationship Type="http://schemas.openxmlformats.org/officeDocument/2006/relationships/slide" Target="/ppt/slides/slide16.xml" Id="R40ed03aeb7e348f5" /><Relationship Type="http://schemas.openxmlformats.org/officeDocument/2006/relationships/slide" Target="/ppt/slides/slide17.xml" Id="Rba659e619f1a4628" /><Relationship Type="http://schemas.openxmlformats.org/officeDocument/2006/relationships/slide" Target="/ppt/slides/slide18.xml" Id="Rd74b0e17bd6d4225" /><Relationship Type="http://schemas.openxmlformats.org/officeDocument/2006/relationships/slide" Target="/ppt/slides/slide19.xml" Id="R307ef6e123864be8" /><Relationship Type="http://schemas.openxmlformats.org/officeDocument/2006/relationships/slide" Target="/ppt/slides/slide20.xml" Id="Re109a8901be042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7db183ab144f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1d6cccd0a44a90" /><Relationship Type="http://schemas.openxmlformats.org/officeDocument/2006/relationships/notesMaster" Target="/ppt/notesMasters/notesMaster1.xml" Id="Ref72ce2197ef4e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6eb7261ac744d3" /><Relationship Type="http://schemas.openxmlformats.org/officeDocument/2006/relationships/notesMaster" Target="/ppt/notesMasters/notesMaster1.xml" Id="R86fe4462442442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4791cca1b54649" /><Relationship Type="http://schemas.openxmlformats.org/officeDocument/2006/relationships/notesMaster" Target="/ppt/notesMasters/notesMaster1.xml" Id="R813d7f89e1d841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284094558440f7" /><Relationship Type="http://schemas.openxmlformats.org/officeDocument/2006/relationships/notesMaster" Target="/ppt/notesMasters/notesMaster1.xml" Id="R90537ca8c87343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4a46cf4b874c35" /><Relationship Type="http://schemas.openxmlformats.org/officeDocument/2006/relationships/notesMaster" Target="/ppt/notesMasters/notesMaster1.xml" Id="R64a52adeeded40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f6165c652e49cd" /><Relationship Type="http://schemas.openxmlformats.org/officeDocument/2006/relationships/notesMaster" Target="/ppt/notesMasters/notesMaster1.xml" Id="R60d498a5ae854e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664f407e454ecb" /><Relationship Type="http://schemas.openxmlformats.org/officeDocument/2006/relationships/notesMaster" Target="/ppt/notesMasters/notesMaster1.xml" Id="Re4da8b1836bf47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b21bee07fe4a8d" /><Relationship Type="http://schemas.openxmlformats.org/officeDocument/2006/relationships/notesMaster" Target="/ppt/notesMasters/notesMaster1.xml" Id="R87add2c621d849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debb5e9c2f4190" /><Relationship Type="http://schemas.openxmlformats.org/officeDocument/2006/relationships/notesMaster" Target="/ppt/notesMasters/notesMaster1.xml" Id="Rc713196ca8cf48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271ecd4e834cd2" /><Relationship Type="http://schemas.openxmlformats.org/officeDocument/2006/relationships/notesMaster" Target="/ppt/notesMasters/notesMaster1.xml" Id="R33566755549e42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7d7c8e0b984699" /><Relationship Type="http://schemas.openxmlformats.org/officeDocument/2006/relationships/notesMaster" Target="/ppt/notesMasters/notesMaster1.xml" Id="R4dd5d843a72c4c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6e3932d53b4f64" /><Relationship Type="http://schemas.openxmlformats.org/officeDocument/2006/relationships/notesMaster" Target="/ppt/notesMasters/notesMaster1.xml" Id="R996026aac2b04d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037629548d4394" /><Relationship Type="http://schemas.openxmlformats.org/officeDocument/2006/relationships/notesMaster" Target="/ppt/notesMasters/notesMaster1.xml" Id="R054ddf7b6e0b46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0079ca821b4741" /><Relationship Type="http://schemas.openxmlformats.org/officeDocument/2006/relationships/notesMaster" Target="/ppt/notesMasters/notesMaster1.xml" Id="R220aaf70b52a44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bc1c8c591c4fc4" /><Relationship Type="http://schemas.openxmlformats.org/officeDocument/2006/relationships/notesMaster" Target="/ppt/notesMasters/notesMaster1.xml" Id="Rbe25524d131a41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7e6e60ca694658" /><Relationship Type="http://schemas.openxmlformats.org/officeDocument/2006/relationships/notesMaster" Target="/ppt/notesMasters/notesMaster1.xml" Id="Rabc9c546b1b044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2f0cda7b604096" /><Relationship Type="http://schemas.openxmlformats.org/officeDocument/2006/relationships/notesMaster" Target="/ppt/notesMasters/notesMaster1.xml" Id="R73c32a238c2041b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f0b92666da40d3" /><Relationship Type="http://schemas.openxmlformats.org/officeDocument/2006/relationships/notesMaster" Target="/ppt/notesMasters/notesMaster1.xml" Id="R8a3a11c54147431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d7ddf7c9fcd4e1b" /><Relationship Type="http://schemas.openxmlformats.org/officeDocument/2006/relationships/notesMaster" Target="/ppt/notesMasters/notesMaster1.xml" Id="R8a10ac6068a744b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cf3976e238b4bf8" /><Relationship Type="http://schemas.openxmlformats.org/officeDocument/2006/relationships/notesMaster" Target="/ppt/notesMasters/notesMaster1.xml" Id="R12b5ace9a3bd40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presentation as of 30 September 2026. VayuSetu is the repository and original hosting name. PRANA-NET / VayuDrishti is the current product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hypothesis from the PRD. This deck does not assert a national monitoring-station density or a quantified health impact. The AQI and PM2.5 examples are synthetic values with different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Open-Meteo/CAMS context does not replace hardware measurements. The command map uses a scenario drawing rather than real GIS plume modelling.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implementation: z = max(0,(pm-baseline)/max(1,sigma)). sensor = z &gt;= 2.5. corroborators = reports + satellite. Score = clamp(round(26 + min(z,6)*6 + reports*15 + satellite*12 + (wind&gt;=4?5:0)),18,95), except z&lt;0.5 with no corroborators gives 18. Alert = sensor and corroborators&gt;=1 and score&gt;=65. This is an experimental score, not a calibrated probability or trained attribution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Fields: timestamp, pm, baseline, sigma, reports, satellite and optional label. PM units µg/m³. CSV supports simple unquoted rows. A saved dataset can later reload from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six-row synthetic sample from dist/features.js, reproduced in the working demo. Corroborated rule: TP=2, FP=0, FN=0, TN=4. Threshold &gt;=150: TP=2, FP=1, FN=0, TN=3. Precision 2/2=100% vs 2/3=66.7%. Recall 2/2=100% for both. False positive rate 0/4=0% vs1/4=25%. Small synthetic sample results cannot establish real-world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Photos: JPEG, PNG or WebP up to 3 MB. The image heuristic detects smoke-like haze but cannot confirm pollution or classify a source. Reports ask users to omit personal identifiers.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stage names are records only. The prototype does not contact agencies, send SMS, issue legal notices or control HVAC systems. A field operator must confirm actions outside this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dossier is an operator review document, not a certified legal evidence package. Production persists records in D1 and photos in R2. JSON event packets omit raw 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Vercel dashboard is public. API records and photos require shared operator credentials through HTTP Basic authentication over HTTPS. Private Vercel Blob storage is accessed server-side. Original owner-private Site and its D1/R2 records remain separate. No tenant RBAC, retention workflow, access audit or regulatory certification is implemented.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integrations only. No Gemini, Firebase or Google Maps credentials are configured today. Gemini structured output docs: https://ai.google.dev/gemini-api/docs/structured-output . Maps and Firebase roles here describe candidate integrations, not deployed or validated functionality.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Vercel dashboard: https://vayusetu-seven.vercel.app . Source: https://github.com/pesanish5-bot/vayusetu . Demonstration video: PRANA-NET-YouTube-Demo-1080p.mp4, produced locally with synthetic data. Vercel has separate private storage; original Site records have not been migrated.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current project source, README.md, dist/index.html, dist/features.js, server/worker.mjs and db/schema.ts. Repository: https://github.com/pesanish5-bot/vayusetu. Product captures show the local working demo with synthetic data. Original PRD supplies the broader vision only, not verified implementation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1cb202c1e344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4d0748643c4a3c" /><Relationship Type="http://schemas.openxmlformats.org/officeDocument/2006/relationships/slideLayout" Target="/ppt/slideLayouts/slideLayout1.xml" Id="R56a22e12834d49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a22e12834d49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8715d73cc4f2b" /><Relationship Type="http://schemas.openxmlformats.org/officeDocument/2006/relationships/notesSlide" Target="/ppt/notesSlides/notesSlide1.xml" Id="R95fa584ab7ab4e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d4351bc5c4c5e" /><Relationship Type="http://schemas.openxmlformats.org/officeDocument/2006/relationships/notesSlide" Target="/ppt/notesSlides/notesSlide2.xml" Id="R570c047b146f40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285270c134473" /><Relationship Type="http://schemas.openxmlformats.org/officeDocument/2006/relationships/notesSlide" Target="/ppt/notesSlides/notesSlide3.xml" Id="R24c8a998812844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61501b90942ba" /><Relationship Type="http://schemas.openxmlformats.org/officeDocument/2006/relationships/notesSlide" Target="/ppt/notesSlides/notesSlide4.xml" Id="R0f9bbf03767844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abaf7850248b4" /><Relationship Type="http://schemas.openxmlformats.org/officeDocument/2006/relationships/image" Target="/ppt/media/image.jpeg" Id="Reb56a960d74d43a7" /><Relationship Type="http://schemas.openxmlformats.org/officeDocument/2006/relationships/notesSlide" Target="/ppt/notesSlides/notesSlide5.xml" Id="R89f8cccb88b24f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d13f728464333" /><Relationship Type="http://schemas.openxmlformats.org/officeDocument/2006/relationships/notesSlide" Target="/ppt/notesSlides/notesSlide6.xml" Id="Re70b77b83ac94a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8c783071a491a" /><Relationship Type="http://schemas.openxmlformats.org/officeDocument/2006/relationships/notesSlide" Target="/ppt/notesSlides/notesSlide7.xml" Id="Rfc8b6f4c8e1949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bedf0033341ad" /><Relationship Type="http://schemas.openxmlformats.org/officeDocument/2006/relationships/notesSlide" Target="/ppt/notesSlides/notesSlide8.xml" Id="R501198cf4c214a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97e7594b2400d" /><Relationship Type="http://schemas.openxmlformats.org/officeDocument/2006/relationships/image" Target="/ppt/media/image2.jpeg" Id="R9c94d77cdaf2474a" /><Relationship Type="http://schemas.openxmlformats.org/officeDocument/2006/relationships/notesSlide" Target="/ppt/notesSlides/notesSlide9.xml" Id="R8b3a46ac8ac24e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180a9dc0b4e4f" /><Relationship Type="http://schemas.openxmlformats.org/officeDocument/2006/relationships/notesSlide" Target="/ppt/notesSlides/notesSlide10.xml" Id="Rb317a0a9645143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a08adbd034367" /><Relationship Type="http://schemas.openxmlformats.org/officeDocument/2006/relationships/image" Target="/ppt/media/image3.jpeg" Id="R2426f886f87642b8" /><Relationship Type="http://schemas.openxmlformats.org/officeDocument/2006/relationships/notesSlide" Target="/ppt/notesSlides/notesSlide11.xml" Id="R10f08843e0c346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20d220c15483e" /><Relationship Type="http://schemas.openxmlformats.org/officeDocument/2006/relationships/image" Target="/ppt/media/image4.jpeg" Id="Rd8409d5936664f09" /><Relationship Type="http://schemas.openxmlformats.org/officeDocument/2006/relationships/notesSlide" Target="/ppt/notesSlides/notesSlide12.xml" Id="Rabd7ac6755fb42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3e6d2115e4011" /><Relationship Type="http://schemas.openxmlformats.org/officeDocument/2006/relationships/image" Target="/ppt/media/image5.jpeg" Id="Rafd84f82318f4b76" /><Relationship Type="http://schemas.openxmlformats.org/officeDocument/2006/relationships/notesSlide" Target="/ppt/notesSlides/notesSlide13.xml" Id="R8212cda674124a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76a1e96ed41e9" /><Relationship Type="http://schemas.openxmlformats.org/officeDocument/2006/relationships/notesSlide" Target="/ppt/notesSlides/notesSlide14.xml" Id="R98e03c67719f48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0414072334c9b" /><Relationship Type="http://schemas.openxmlformats.org/officeDocument/2006/relationships/notesSlide" Target="/ppt/notesSlides/notesSlide15.xml" Id="Racbc2d4cb7d74e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3a30ddba340f1" /><Relationship Type="http://schemas.openxmlformats.org/officeDocument/2006/relationships/notesSlide" Target="/ppt/notesSlides/notesSlide16.xml" Id="R8cf6e9909f644d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14cf2e00c4488" /><Relationship Type="http://schemas.openxmlformats.org/officeDocument/2006/relationships/notesSlide" Target="/ppt/notesSlides/notesSlide17.xml" Id="Ree307408dc804e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82545523e4ebc" /><Relationship Type="http://schemas.openxmlformats.org/officeDocument/2006/relationships/notesSlide" Target="/ppt/notesSlides/notesSlide18.xml" Id="Rf92e5384be984c6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b4a2c9fe94a9a" /><Relationship Type="http://schemas.openxmlformats.org/officeDocument/2006/relationships/notesSlide" Target="/ppt/notesSlides/notesSlide19.xml" Id="Rd129c0de683440c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a6d12a5dc42a3" /><Relationship Type="http://schemas.openxmlformats.org/officeDocument/2006/relationships/hyperlink" Target="https://github.com/pesanish5-bot/vayusetu" TargetMode="External" Id="R54fa4a727b3442cc" /><Relationship Type="http://schemas.openxmlformats.org/officeDocument/2006/relationships/notesSlide" Target="/ppt/notesSlides/notesSlide20.xml" Id="R8cfe6bdf8b064c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51BF099-C94E-4784-9FF6-05F38995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PRANA-NET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9D3A7DF-6B23-4D0F-99B3-5DD9C52A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6C8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C8DF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CDC2855-2124-49FE-9B71-804C7C1F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DBC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BDF156E-4496-4D78-8150-85ACE402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VayuDrishti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5A3F9FA-CE10-4FC4-ABA4-5EB6B16B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61DBCE"/>
                </a:solidFill>
                <a:latin typeface="Arial"/>
                <a:ea typeface="Arial"/>
                <a:cs typeface="Arial"/>
              </a:rPr>
              <a:t>Hyperlocal pollution evidence</a:t>
            </a:r>
          </a:p>
          <a:p xmlns:a="http://schemas.openxmlformats.org/drawingml/2006/main">
            <a:pPr>
              <a:defRPr sz="3375" b="0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61DBCE"/>
                </a:solidFill>
                <a:latin typeface="Arial"/>
                <a:ea typeface="Arial"/>
                <a:cs typeface="Arial"/>
              </a:rPr>
              <a:t>and operator review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18AAAB8-30EE-4619-A784-E65A62E5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ED2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D2E4"/>
                </a:solidFill>
                <a:latin typeface="Arial"/>
                <a:ea typeface="Arial"/>
                <a:cs typeface="Arial"/>
              </a:rPr>
              <a:t>Working MVP and technical roadmap</a:t>
            </a:r>
          </a:p>
        </p:txBody>
      </p:sp>
    </p:spTree>
    <p:extLst>
      <p:ext uri="{BB962C8B-B14F-4D97-AF65-F5344CB8AC3E}">
        <p14:creationId xmlns:p14="http://schemas.microsoft.com/office/powerpoint/2010/main" val="1054275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35684228-BF5B-40FA-A3F0-741B8A54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The problem: local spikes need local evidence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6CE3418-A53C-49D0-894D-A6CDF7D5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3456E7C-7D58-48C2-942C-A193A62E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D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8653AAA-6234-48AD-A054-8BCDA3BE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78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7E4AB58-D6A7-4409-AC75-1DB8CC72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Scenario citywide AQI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C97666E-5985-4243-B10D-53865DFF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0225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168 µg/m³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E5962B4-FDA6-4ACC-BD5E-5E1CDE63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Scenario local PM2.5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9D0E84E-9D55-4F39-BEED-3C096874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A city summary can hide local variation.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13399B4-B82C-46C7-9A3E-82911BA8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Our hypothesis: local baselines and corroborating evidence can help operators decide what deserves verification.</a:t>
            </a:r>
          </a:p>
        </p:txBody>
      </p:sp>
    </p:spTree>
    <p:extLst>
      <p:ext uri="{BB962C8B-B14F-4D97-AF65-F5344CB8AC3E}">
        <p14:creationId xmlns:p14="http://schemas.microsoft.com/office/powerpoint/2010/main" val="8505530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CA1E2CA8-7DF7-4EB5-9FFD-6CD95C43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Users and decisions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91EB7E9-AA91-43A5-AA01-991F16C2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4AE2D99-3C89-4DB3-A816-6BA42BB0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D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E2F697-CBF1-4B48-B0BC-10D17B09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Residents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BA21AD1-5B2D-424C-B4FE-D847F13C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5260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14A"/>
                </a:solidFill>
                <a:latin typeface="Arial"/>
                <a:ea typeface="Arial"/>
                <a:cs typeface="Arial"/>
              </a:rPr>
              <a:t>Describe a local observation and add an optional photo.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A19D180-B626-4D04-A289-EE21B7C3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Pollution operators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32B6ED3-C77F-4BEB-86A1-E3DA8913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00375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14A"/>
                </a:solidFill>
                <a:latin typeface="Arial"/>
                <a:ea typeface="Arial"/>
                <a:cs typeface="Arial"/>
              </a:rPr>
              <a:t>Review signals and evidence before escalating a case.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0BAE79D-FCEC-4771-A315-E2147428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Pilot researchers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716D7C1-3D10-4824-A2C9-BED995E5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481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14A"/>
                </a:solidFill>
                <a:latin typeface="Arial"/>
                <a:ea typeface="Arial"/>
                <a:cs typeface="Arial"/>
              </a:rPr>
              <a:t>Import labelled readings and compare detection rules.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AC075C8-45A5-4019-A273-24D98A0A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Municipal partnerships and field participation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16814919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0">
            <a:extLst xmlns:a="http://schemas.openxmlformats.org/drawingml/2006/main">
              <a:ext uri="{FF2B5EF4-FFF2-40B4-BE49-F238E27FC236}">
                <a16:creationId xmlns:a16="http://schemas.microsoft.com/office/drawing/2014/main" id="{782CA310-FD6C-4A51-9733-6EF36029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MVP: a complete review loop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F61743D-8041-42DD-9CE2-0BCFB08B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6C8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C8DF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6A89524-A6BF-453A-98BB-6A21E142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DBC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72FF7C9-841F-44B6-9602-D630A813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1DBC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1FDAAA8-D0E3-45E0-BD29-B3063CC7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240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a city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9235560-005B-4F06-AE1C-52710495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4286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Open the relevant corridor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1288876-B7D0-4C05-AC8E-F8DEBD68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2402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1DBC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7001B72-398E-4432-AFF9-1E384A0C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240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Import readings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AF9EB84-65B3-43B9-813B-A2DD12CD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90750"/>
            <a:ext cx="4286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Validate JSON or CSV data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E6714AA-F890-4F79-809F-8301F9BF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1DBC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81C6994-228B-4962-9D7B-2C7F2265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337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evidence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AE4204AB-4CAD-4DF3-A5F3-C4E02C8B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4286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Inspect the local anomaly rule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1BF623A-5580-4403-92E4-28386FA9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3372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1DBC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52768DA5-A111-4638-9BC4-19A0E978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337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a case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3D31D59-B6EF-43D2-A24C-C26823C0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00450"/>
            <a:ext cx="4286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Record reports and incident data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1CB78E0B-C87F-4FBC-8B5F-F18CC86F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1DBC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1FBA4CE8-7297-40AC-B5D9-2AEBFBA2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434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 progress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61A909CB-553E-4B27-8557-6CB60CFF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0150"/>
            <a:ext cx="4286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Resume review stages from history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745201AF-6736-486B-B5C6-5F61644E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4342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1DBC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6702ABD7-5878-4250-AC51-C3F17180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434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Export evidence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6CC7B64A-DDBC-495D-85C8-049750AE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10150"/>
            <a:ext cx="4286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Prepare a dossier for review</a:t>
            </a:r>
          </a:p>
        </p:txBody>
      </p:sp>
    </p:spTree>
    <p:extLst>
      <p:ext uri="{BB962C8B-B14F-4D97-AF65-F5344CB8AC3E}">
        <p14:creationId xmlns:p14="http://schemas.microsoft.com/office/powerpoint/2010/main" val="687445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7507730C-042A-4633-A823-6925411F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The command dashboard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7F5FCDD-FAB8-4F55-848C-E2EAE992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19CAC4-BDC2-443E-9E12-A1217ECB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D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EF4C1E7-BDD7-4256-84DD-579E73F9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105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A local review workspace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F49AAFC-E492-43B6-95F5-B217B096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31051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City controls, regional context and scenario signals share one view. The map labels its illustrative geometry.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6a960d74d43a7"/>
          <a:stretch xmlns:a="http://schemas.openxmlformats.org/drawingml/2006/main"/>
        </p:blipFill>
        <p:spPr>
          <a:xfrm xmlns:a="http://schemas.openxmlformats.org/drawingml/2006/main">
            <a:off x="4114800" y="1717971"/>
            <a:ext cx="7467600" cy="4203108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6FEA0DA2-EEEB-479D-B64B-1DCD9E99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019800"/>
            <a:ext cx="746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Local demonstration using synthetic evidence</a:t>
            </a:r>
          </a:p>
        </p:txBody>
      </p:sp>
    </p:spTree>
    <p:extLst>
      <p:ext uri="{BB962C8B-B14F-4D97-AF65-F5344CB8AC3E}">
        <p14:creationId xmlns:p14="http://schemas.microsoft.com/office/powerpoint/2010/main" val="9943183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2115728E-2728-40DC-A6F2-D3CE6BC3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Four contexts, with room to expand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980E63B-3D56-41C2-8108-9B3A5EF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283E665-E0C4-462D-985A-CBC579A6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D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857750"/>
                <a:gridCol w="3067050"/>
              </a:tblGrid>
              <a:tr h="73533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City context</a:t>
                      </a:r>
                    </a:p>
                  </a:txBody>
                  <a:tcPr marL="152400" marR="152400" marT="114300" marB="114300">
                    <a:solidFill>
                      <a:srgbClr val="12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Pilot corridor</a:t>
                      </a:r>
                    </a:p>
                  </a:txBody>
                  <a:tcPr marL="152400" marR="152400" marT="114300" marB="114300">
                    <a:solidFill>
                      <a:srgbClr val="12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Node</a:t>
                      </a:r>
                    </a:p>
                  </a:txBody>
                  <a:tcPr marL="152400" marR="152400" marT="114300" marB="114300">
                    <a:solidFill>
                      <a:srgbClr val="12243E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Bengaluru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Peenya Industrial Area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KA-BLR-01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Delhi NCR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Bawana / Narela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DL-NCR-01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Mumbai MMR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Taloja Industrial Area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MH-MMR-01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Hyderabad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Patancheru Industrial Area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TS-HYD-01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4CE6C1F-7C95-4866-B02C-3120A270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These are configured city contexts. Four views do not mean four deployed municipal systems.</a:t>
            </a:r>
          </a:p>
        </p:txBody>
      </p:sp>
    </p:spTree>
    <p:extLst>
      <p:ext uri="{BB962C8B-B14F-4D97-AF65-F5344CB8AC3E}">
        <p14:creationId xmlns:p14="http://schemas.microsoft.com/office/powerpoint/2010/main" val="19699166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CD4F56C-7B02-465D-97DE-6A879AD1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Evidence sources and their current status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722D9C4-28E7-4C27-B1D0-985330AE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D6AC8F-A9E8-40EA-A7B7-AC8B30EA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D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191000"/>
                <a:gridCol w="4019550"/>
              </a:tblGrid>
              <a:tr h="8343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152400" marR="152400" marT="114300" marB="114300">
                    <a:solidFill>
                      <a:srgbClr val="12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Working today</a:t>
                      </a:r>
                    </a:p>
                  </a:txBody>
                  <a:tcPr marL="152400" marR="152400" marT="114300" marB="114300">
                    <a:solidFill>
                      <a:srgbClr val="12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Boundary</a:t>
                      </a:r>
                    </a:p>
                  </a:txBody>
                  <a:tcPr marL="152400" marR="152400" marT="114300" marB="114300">
                    <a:solidFill>
                      <a:srgbClr val="12243E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Local readings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User-supplied JSON / CSV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Hardware feed planned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Citizen observations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Saved text and optional photos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Human verification required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Satellite cues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Operator-supplied evidence flag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Live ingestion planned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Weather and regional PM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Open-Meteo / CAMS context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Regional model context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641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91984901-8958-424D-80BF-174E83A2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current detector is an explainable rule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4CB4F3-0A95-4753-A13F-37433A0E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6C8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C8DF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016B059-5A68-4264-9EAF-2A50F8F1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DBC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81E1597-CD8D-4D0F-9A01-62D594AF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1DBCE"/>
                </a:solidFill>
                <a:latin typeface="Arial"/>
                <a:ea typeface="Arial"/>
                <a:cs typeface="Arial"/>
              </a:rPr>
              <a:t>z = (PM2.5 − local baseline) / σ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11718C9-836A-4AEB-ABF9-2B7DC69F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1DBCE"/>
                </a:solidFill>
                <a:latin typeface="Arial"/>
                <a:ea typeface="Arial"/>
                <a:cs typeface="Arial"/>
              </a:rPr>
              <a:t>Local deviation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B61C0FF-26EF-4AB5-BB8B-43503C7E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05125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1ED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1EDF6"/>
                </a:solidFill>
                <a:latin typeface="Arial"/>
                <a:ea typeface="Arial"/>
                <a:cs typeface="Arial"/>
              </a:rPr>
              <a:t>A candidate spike crosses z ≥ 2.5.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97D4AF5-5DFA-4F99-976F-FD0AB7D0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1DBCE"/>
                </a:solidFill>
                <a:latin typeface="Arial"/>
                <a:ea typeface="Arial"/>
                <a:cs typeface="Arial"/>
              </a:rPr>
              <a:t>Corroboration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178C510-7FE4-46F4-96E7-EFC6D5C0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6240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1ED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1EDF6"/>
                </a:solidFill>
                <a:latin typeface="Arial"/>
                <a:ea typeface="Arial"/>
                <a:cs typeface="Arial"/>
              </a:rPr>
              <a:t>At least one report or satellite flag supports review.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B4FE111-C2A5-4D72-81EA-F5B66997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1DBCE"/>
                </a:solidFill>
                <a:latin typeface="Arial"/>
                <a:ea typeface="Arial"/>
                <a:cs typeface="Arial"/>
              </a:rPr>
              <a:t>Review threshold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4CD7423-EFC3-483C-AC59-2138CCA4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19675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1ED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1EDF6"/>
                </a:solidFill>
                <a:latin typeface="Arial"/>
                <a:ea typeface="Arial"/>
                <a:cs typeface="Arial"/>
              </a:rPr>
              <a:t>The rule score reaches 65 out of 100.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4B2CC16-B5C2-45AD-86E1-74817B32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ED2E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D2E4"/>
                </a:solidFill>
                <a:latin typeface="Arial"/>
                <a:ea typeface="Arial"/>
                <a:cs typeface="Arial"/>
              </a:rPr>
              <a:t>A rule score does not establish emission source or probability.</a:t>
            </a:r>
          </a:p>
        </p:txBody>
      </p:sp>
    </p:spTree>
    <p:extLst>
      <p:ext uri="{BB962C8B-B14F-4D97-AF65-F5344CB8AC3E}">
        <p14:creationId xmlns:p14="http://schemas.microsoft.com/office/powerpoint/2010/main" val="11782720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7593800-AC5C-4444-8C83-B7C16A31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Sensor intake and validation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6D81957-A799-441F-89C8-34CEC35E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F3B3E46-2C98-4E26-96B6-D0986D4C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D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90806AF-ACFD-4614-9C08-4FDB7E9A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105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Bring your own readings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7A4F6FF-0015-49AA-86BD-8725486A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31051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Up to 500 rows and 200 KB. Required fields include time, PM2.5, baseline, σ and evidence flags. An optional label enables evaluation.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4d77cdaf2474a"/>
          <a:stretch xmlns:a="http://schemas.openxmlformats.org/drawingml/2006/main"/>
        </p:blipFill>
        <p:spPr>
          <a:xfrm xmlns:a="http://schemas.openxmlformats.org/drawingml/2006/main">
            <a:off x="4114800" y="1717971"/>
            <a:ext cx="7467600" cy="4203108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44763C1-C9A2-424C-9B7C-1B7BD29C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019800"/>
            <a:ext cx="746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Local demonstration using synthetic evidence</a:t>
            </a:r>
          </a:p>
        </p:txBody>
      </p:sp>
    </p:spTree>
    <p:extLst>
      <p:ext uri="{BB962C8B-B14F-4D97-AF65-F5344CB8AC3E}">
        <p14:creationId xmlns:p14="http://schemas.microsoft.com/office/powerpoint/2010/main" val="17081605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9B11425-74E3-41F7-8DD1-3077A91B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Synthetic evaluation shows the comparison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643D7DA-7F3F-402C-9F50-D5C68E44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A7E364F-2C7A-4DD2-8B6D-9894E76C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D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3009900"/>
                <a:gridCol w="3009900"/>
              </a:tblGrid>
              <a:tr h="6175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152400" marR="152400" marT="114300" marB="114300">
                    <a:solidFill>
                      <a:srgbClr val="12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Corroborated rule</a:t>
                      </a:r>
                    </a:p>
                  </a:txBody>
                  <a:tcPr marL="152400" marR="152400" marT="114300" marB="114300">
                    <a:solidFill>
                      <a:srgbClr val="12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PM2.5 ≥ 150</a:t>
                      </a:r>
                    </a:p>
                  </a:txBody>
                  <a:tcPr marL="152400" marR="152400" marT="114300" marB="114300">
                    <a:solidFill>
                      <a:srgbClr val="12243E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True / false positives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2 / 0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2 / 1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False negatives / true negatives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0 / 4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0 / 3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66.7%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False positive rate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0%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25%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450A718-E9A1-4D5D-B1BD-CCFA7E02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Six synthetic labelled rows. These results test rule behaviour, not field accuracy or detection latency.</a:t>
            </a:r>
          </a:p>
        </p:txBody>
      </p:sp>
    </p:spTree>
    <p:extLst>
      <p:ext uri="{BB962C8B-B14F-4D97-AF65-F5344CB8AC3E}">
        <p14:creationId xmlns:p14="http://schemas.microsoft.com/office/powerpoint/2010/main" val="10662948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7196B7E-A844-427A-B439-63983B4B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Citizen reporting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AA84DDA-94CC-4CC4-8B9A-E204C9F0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0CEF063-135B-4104-B8B8-0E581FD8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D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5CD47BB-1D26-49FB-AE74-D65A63A6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105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A lightweight intake flow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3C8C8E2-A969-4D08-8816-A50CF920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31051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Residents describe an observation. Optional photo storage supports later review. The demo uses explicitly synthetic report content.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6f886f87642b8"/>
          <a:stretch xmlns:a="http://schemas.openxmlformats.org/drawingml/2006/main"/>
        </p:blipFill>
        <p:spPr>
          <a:xfrm xmlns:a="http://schemas.openxmlformats.org/drawingml/2006/main">
            <a:off x="4114800" y="1717971"/>
            <a:ext cx="7467600" cy="4203108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43555963-A433-4723-B6D9-38191669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019800"/>
            <a:ext cx="746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Local demonstration using synthetic evidence</a:t>
            </a:r>
          </a:p>
        </p:txBody>
      </p:sp>
    </p:spTree>
    <p:extLst>
      <p:ext uri="{BB962C8B-B14F-4D97-AF65-F5344CB8AC3E}">
        <p14:creationId xmlns:p14="http://schemas.microsoft.com/office/powerpoint/2010/main" val="12699295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6F9F88A-50A3-4998-804B-3B353948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Recorded response progress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E42364A-9A36-48A1-9438-C63F82B4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E5D65AF-2826-4409-B6FF-10831A2C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D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0011069-5ACD-402B-BDA7-9EAD2853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105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A saved incident workflow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965AA5E-04B5-46FE-8C27-2DCE963B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31051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Detected, verified, assigned, dispatched, inspected and resolved stages persist as review records.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09d5936664f09"/>
          <a:stretch xmlns:a="http://schemas.openxmlformats.org/drawingml/2006/main"/>
        </p:blipFill>
        <p:spPr>
          <a:xfrm xmlns:a="http://schemas.openxmlformats.org/drawingml/2006/main">
            <a:off x="4114800" y="1717971"/>
            <a:ext cx="7467600" cy="4203108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8537780-632D-4363-8565-D2041C74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019800"/>
            <a:ext cx="746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Local demonstration using synthetic evidence</a:t>
            </a:r>
          </a:p>
        </p:txBody>
      </p:sp>
    </p:spTree>
    <p:extLst>
      <p:ext uri="{BB962C8B-B14F-4D97-AF65-F5344CB8AC3E}">
        <p14:creationId xmlns:p14="http://schemas.microsoft.com/office/powerpoint/2010/main" val="6816191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160F4031-05BD-4086-AB2D-38B068DD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History and evidence dossiers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8397B3D-5CE5-4761-BDB4-D493AA2E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C5B5AAA-36B0-4029-A9F2-88120249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D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7EB0E38-442D-477C-8093-C0DF2503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105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Evidence stays connected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7275466-6A1C-4C18-B141-16086A22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31051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Reports, sensor datasets and incidents remain available by city. Resume a case or export an HTML dossier for review.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84f82318f4b76"/>
          <a:stretch xmlns:a="http://schemas.openxmlformats.org/drawingml/2006/main"/>
        </p:blipFill>
        <p:spPr>
          <a:xfrm xmlns:a="http://schemas.openxmlformats.org/drawingml/2006/main">
            <a:off x="4114800" y="1717971"/>
            <a:ext cx="7467600" cy="4203108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C931145-1A69-47AD-87D2-81D2C6D4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019800"/>
            <a:ext cx="746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Local demonstration using synthetic evidence</a:t>
            </a:r>
          </a:p>
        </p:txBody>
      </p:sp>
    </p:spTree>
    <p:extLst>
      <p:ext uri="{BB962C8B-B14F-4D97-AF65-F5344CB8AC3E}">
        <p14:creationId xmlns:p14="http://schemas.microsoft.com/office/powerpoint/2010/main" val="14348342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F17E855D-2BE2-4345-9586-067F6125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Current application architecture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4FC809B-838F-4346-A65D-C9599C7F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87625E9-B213-4275-B38D-0A19A49E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D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410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114800"/>
                <a:gridCol w="4381500"/>
              </a:tblGrid>
              <a:tr h="7350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152400" marR="152400" marT="114300" marB="114300">
                    <a:solidFill>
                      <a:srgbClr val="12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Vercel deployment</a:t>
                      </a:r>
                    </a:p>
                  </a:txBody>
                  <a:tcPr marL="152400" marR="152400" marT="114300" marB="114300">
                    <a:solidFill>
                      <a:srgbClr val="12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152400" marR="152400" marT="114300" marB="114300">
                    <a:solidFill>
                      <a:srgbClr val="12243E"/>
                    </a:solidFill>
                  </a:tcPr>
                </a:tc>
              </a:tr>
              <a:tr h="7350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Browser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HTML / CSS / JavaScript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Public views, rules and imports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API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Node.js serverless function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Protected record operations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</a:tr>
              <a:tr h="7350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Records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Private Vercel Blob JSON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Reports, datasets and incidents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Photos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Private Vercel Blob files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Authenticated media access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</a:tr>
              <a:tr h="7350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External context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Open-Meteo / CAMS and OSM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Regional weather, air and maps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5312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FCA8E5C-3615-4239-B2C6-D5101657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handling and security boundaries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933A4B0-F0D8-4DC9-9DE2-022FE042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6C8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C8DF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981D3A9-BBED-4755-BB5C-1BF3B18F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DBC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AD0F663-4E55-4027-85FD-FCA618D0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1DBCE"/>
                </a:solidFill>
                <a:latin typeface="Arial"/>
                <a:ea typeface="Arial"/>
                <a:cs typeface="Arial"/>
              </a:rPr>
              <a:t>Public dashboard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7FAC60B-270F-4D1B-A96D-252853A6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5260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1ED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1EDF6"/>
                </a:solidFill>
                <a:latin typeface="Arial"/>
                <a:ea typeface="Arial"/>
                <a:cs typeface="Arial"/>
              </a:rPr>
              <a:t>The dashboard is public; operators sign in to save records.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D17436F-7DDE-4147-BEF5-FF4AC902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1DBCE"/>
                </a:solidFill>
                <a:latin typeface="Arial"/>
                <a:ea typeface="Arial"/>
                <a:cs typeface="Arial"/>
              </a:rPr>
              <a:t>Private storage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0E20E0-DC09-4EA2-B1AF-72AEC53D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24175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1ED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1EDF6"/>
                </a:solidFill>
                <a:latin typeface="Arial"/>
                <a:ea typeface="Arial"/>
                <a:cs typeface="Arial"/>
              </a:rPr>
              <a:t>Vercel Blob stores protected records and photos.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CD669D3-EBB1-4C9F-9936-62CDC5C0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1DBCE"/>
                </a:solidFill>
                <a:latin typeface="Arial"/>
                <a:ea typeface="Arial"/>
                <a:cs typeface="Arial"/>
              </a:rPr>
              <a:t>Validated writes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E25318B-0FD5-4DB7-838B-F0F0206B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1ED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1EDF6"/>
                </a:solidFill>
                <a:latin typeface="Arial"/>
                <a:ea typeface="Arial"/>
                <a:cs typeface="Arial"/>
              </a:rPr>
              <a:t>Payload limits and conditional updates protect record writes.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98B55C1-559D-4304-9F1D-EB80C6E7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Next: user roles, consent, retention rules and audited access logs.</a:t>
            </a:r>
          </a:p>
        </p:txBody>
      </p:sp>
    </p:spTree>
    <p:extLst>
      <p:ext uri="{BB962C8B-B14F-4D97-AF65-F5344CB8AC3E}">
        <p14:creationId xmlns:p14="http://schemas.microsoft.com/office/powerpoint/2010/main" val="3679863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0DCC2FC-BECD-4DE7-95C4-F45A1B1B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Implementation versus the long-term vision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5D956F-77A4-4D08-BDF8-90FC414B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7B89FF-7365-4813-8626-590E81EB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D7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19700"/>
                <a:gridCol w="5753100"/>
              </a:tblGrid>
              <a:tr h="746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Working MVP</a:t>
                      </a:r>
                    </a:p>
                  </a:txBody>
                  <a:tcPr marL="152400" marR="152400" marT="114300" marB="114300">
                    <a:solidFill>
                      <a:srgbClr val="12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Further development</a:t>
                      </a:r>
                    </a:p>
                  </a:txBody>
                  <a:tcPr marL="152400" marR="152400" marT="114300" marB="114300">
                    <a:solidFill>
                      <a:srgbClr val="12243E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Four city contexts and regional model data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Calibrated hardware sensor ingestion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Evidence flags and an explainable rule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Validated source attribution models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Saved reports, photos and incident stages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Authorized agency workflows and advisories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Event schema exchange and dossier export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Federated training with tested privacy controls</a:t>
                      </a:r>
                    </a:p>
                  </a:txBody>
                  <a:tcPr marL="152400" marR="152400" marT="114300" marB="114300">
                    <a:solidFill>
                      <a:srgbClr val="F0F6FA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Illustrative wind and plume views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A"/>
                          </a:solidFill>
                          <a:latin typeface="Arial"/>
                          <a:ea typeface="Arial"/>
                          <a:cs typeface="Arial"/>
                        </a:rPr>
                        <a:t>Validated dispersion and exposure estimates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2877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1F7EFED4-76E0-4061-B138-A9821B6F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A meaningful Google integration plan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874F652-1A6E-4FDF-9DD1-F12B055A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62237B2-72A0-44BB-9346-BA8F2D8E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D7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FFAD5D7-18AD-43F6-86BC-9D861DF5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Gemini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3734DF-3B9E-4540-8408-D57466DB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33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14A"/>
                </a:solidFill>
                <a:latin typeface="Arial"/>
                <a:ea typeface="Arial"/>
                <a:cs typeface="Arial"/>
              </a:rPr>
              <a:t>Draft a structured evidence summary for human review.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13800BB-3BA8-42F8-BEA3-7E65B26D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Maps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14955A6-D4A4-4628-A8B0-EE527AD2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7180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14A"/>
                </a:solidFill>
                <a:latin typeface="Arial"/>
                <a:ea typeface="Arial"/>
                <a:cs typeface="Arial"/>
              </a:rPr>
              <a:t>Add geographic routes and verified facility context.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4A10934-A711-46C5-843C-D14A6A15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Firebase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2AAD1F9-244F-4252-B652-AE27EE05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100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14A"/>
                </a:solidFill>
                <a:latin typeface="Arial"/>
                <a:ea typeface="Arial"/>
                <a:cs typeface="Arial"/>
              </a:rPr>
              <a:t>Evaluate operator sign-in and role-based access.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61D1AFD-3B6C-4260-B61B-F991A96A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Planned work. Human review must remain the authority for source attribution and action.</a:t>
            </a:r>
          </a:p>
        </p:txBody>
      </p:sp>
    </p:spTree>
    <p:extLst>
      <p:ext uri="{BB962C8B-B14F-4D97-AF65-F5344CB8AC3E}">
        <p14:creationId xmlns:p14="http://schemas.microsoft.com/office/powerpoint/2010/main" val="13975855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F2F04B6-B97A-428F-BFB4-34CDF5C5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Pilot design and evidence of impact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3ED32F8-E349-42BC-AF80-1FAD52BC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BEC3B8E-DA94-4CF8-940D-625CB750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D7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CD137F1-A201-4146-8F0D-BF85B025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One corridor first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4678576-E69D-418F-8048-01906B31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24025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14A"/>
                </a:solidFill>
                <a:latin typeface="Arial"/>
                <a:ea typeface="Arial"/>
                <a:cs typeface="Arial"/>
              </a:rPr>
              <a:t>Partner with operators and co-locate calibrated sensors.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693D344-53CF-4187-9D76-FB83835A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Event-level labels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4A1368C-2CB3-459E-BC45-568793E3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86075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14A"/>
                </a:solidFill>
                <a:latin typeface="Arial"/>
                <a:ea typeface="Arial"/>
                <a:cs typeface="Arial"/>
              </a:rPr>
              <a:t>Use reviewed incidents and normal periods with timestamps.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F6220BA-56DE-46A3-A301-8E1915E9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Compare outcomes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58719F7-FA3C-4807-A8B9-674915FB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48125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14A"/>
                </a:solidFill>
                <a:latin typeface="Arial"/>
                <a:ea typeface="Arial"/>
                <a:cs typeface="Arial"/>
              </a:rPr>
              <a:t>Measure missed events, false alerts and review time.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2FC40BB-5511-4A9C-B2C3-B222456B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Proposed commercial path: paid institutional pilots after validation. No customer or revenue claims yet.</a:t>
            </a:r>
          </a:p>
        </p:txBody>
      </p:sp>
    </p:spTree>
    <p:extLst>
      <p:ext uri="{BB962C8B-B14F-4D97-AF65-F5344CB8AC3E}">
        <p14:creationId xmlns:p14="http://schemas.microsoft.com/office/powerpoint/2010/main" val="16241179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2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4266E4DC-AFE2-4207-A5A8-B0F0A88E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Roadmap and selection readiness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A13081B-7A51-45AF-82E4-F7F4641A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6C8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C8DF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E2CD1ED-D646-415A-91AF-67002439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DBCE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37E786A-FF75-4694-9355-4FA87413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1DBCE"/>
                </a:solidFill>
                <a:latin typeface="Arial"/>
                <a:ea typeface="Arial"/>
                <a:cs typeface="Arial"/>
              </a:rPr>
              <a:t>Pilot foundation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9EC5B6F-EDFB-4B6D-8C10-F51A1CC5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1450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1ED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1EDF6"/>
                </a:solidFill>
                <a:latin typeface="Arial"/>
                <a:ea typeface="Arial"/>
                <a:cs typeface="Arial"/>
              </a:rPr>
              <a:t>Connect sensors, define consent and collect reviewed labels.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D93B3AC-45D2-49C4-803C-97059F38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1DBCE"/>
                </a:solidFill>
                <a:latin typeface="Arial"/>
                <a:ea typeface="Arial"/>
                <a:cs typeface="Arial"/>
              </a:rPr>
              <a:t>Operational validation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CADF57B-D1C5-4AD2-A206-D046B60D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527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1ED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1EDF6"/>
                </a:solidFill>
                <a:latin typeface="Arial"/>
                <a:ea typeface="Arial"/>
                <a:cs typeface="Arial"/>
              </a:rPr>
              <a:t>Benchmark detection and test the operator workflow.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1FF2635-3BFE-4549-AD75-815CE566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1DB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1DBCE"/>
                </a:solidFill>
                <a:latin typeface="Arial"/>
                <a:ea typeface="Arial"/>
                <a:cs typeface="Arial"/>
              </a:rPr>
              <a:t>Advanced intelligence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75D6B89-55C6-4846-9D4B-D46148DB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9100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1ED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1EDF6"/>
                </a:solidFill>
                <a:latin typeface="Arial"/>
                <a:ea typeface="Arial"/>
                <a:cs typeface="Arial"/>
              </a:rPr>
              <a:t>Evaluate Google tooling, dispersion and federated models.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7C2E9B6-6638-422E-8B53-B364BD4F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9CED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9CEDF"/>
                </a:solidFill>
                <a:latin typeface="Arial"/>
                <a:ea typeface="Arial"/>
                <a:cs typeface="Arial"/>
              </a:rPr>
              <a:t>Hackathon strength comes from a working demo and credible evidence. Selection cannot be guaranteed.</a:t>
            </a:r>
          </a:p>
        </p:txBody>
      </p:sp>
    </p:spTree>
    <p:extLst>
      <p:ext uri="{BB962C8B-B14F-4D97-AF65-F5344CB8AC3E}">
        <p14:creationId xmlns:p14="http://schemas.microsoft.com/office/powerpoint/2010/main" val="20363728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4CA646E-9841-42DB-AAEB-02FFA8D3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Demo, source and next milestone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65858B4-58ED-4925-98D5-3958861C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PRANA-NET / VayuDrishti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936D1AA-A74C-44EA-9FCF-0AB3F986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D7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FACFFEC-E084-4CF6-BD08-B979C114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3822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7D7A"/>
                </a:solidFill>
                <a:latin typeface="Arial"/>
                <a:ea typeface="Arial"/>
                <a:cs typeface="Arial"/>
              </a:rPr>
              <a:t>The next milestone is a reviewed field pilot.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66606FB-0CF8-47C9-A2CD-9E92CF5B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1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14A"/>
                </a:solidFill>
                <a:latin typeface="Arial"/>
                <a:ea typeface="Arial"/>
                <a:cs typeface="Arial"/>
              </a:rPr>
              <a:t>GitHub source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958BEBC-7607-4243-AAAD-C0E19B22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7D7A"/>
                </a:solidFill>
                <a:latin typeface="Arial"/>
                <a:ea typeface="Arial"/>
                <a:cs typeface="Arial"/>
                <a:hlinkClick xmlns:r="http://schemas.openxmlformats.org/officeDocument/2006/relationships" r:id="R54fa4a727b3442cc"/>
              </a:rPr>
              <a:t>github.com/pesanish5-bot/vayusetu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EBD9267-C5C6-46CE-8B97-DC29E969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7D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7D7A"/>
                </a:solidFill>
                <a:latin typeface="Arial"/>
                <a:ea typeface="Arial"/>
                <a:cs typeface="Arial"/>
              </a:rPr>
              <a:t>Live demo: vayusetu-seven.vercel.app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1A58EF6-1A86-4D73-8359-CF959EFB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Working prototype · field validation is the next milestone.</a:t>
            </a:r>
          </a:p>
        </p:txBody>
      </p:sp>
    </p:spTree>
    <p:extLst>
      <p:ext uri="{BB962C8B-B14F-4D97-AF65-F5344CB8AC3E}">
        <p14:creationId xmlns:p14="http://schemas.microsoft.com/office/powerpoint/2010/main" val="1211240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2026-09-30T17:43:24.1290000Z</dcterms:created>
  <dcterms:modified xsi:type="dcterms:W3CDTF">2026-09-30T17:43:24.1290000Z</dcterms:modified>
</coreProperties>
</file>